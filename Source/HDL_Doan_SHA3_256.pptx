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14"/>
  </p:notesMasterIdLst>
  <p:sldIdLst>
    <p:sldId id="329" r:id="rId2"/>
    <p:sldId id="431" r:id="rId3"/>
    <p:sldId id="435" r:id="rId4"/>
    <p:sldId id="433" r:id="rId5"/>
    <p:sldId id="434" r:id="rId6"/>
    <p:sldId id="436" r:id="rId7"/>
    <p:sldId id="432" r:id="rId8"/>
    <p:sldId id="437" r:id="rId9"/>
    <p:sldId id="438" r:id="rId10"/>
    <p:sldId id="440" r:id="rId11"/>
    <p:sldId id="439" r:id="rId12"/>
    <p:sldId id="442" r:id="rId1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CA3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2" autoAdjust="0"/>
    <p:restoredTop sz="83741" autoAdjust="0"/>
  </p:normalViewPr>
  <p:slideViewPr>
    <p:cSldViewPr>
      <p:cViewPr varScale="1">
        <p:scale>
          <a:sx n="69" d="100"/>
          <a:sy n="69" d="100"/>
        </p:scale>
        <p:origin x="2170" y="6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D4BB8-DA2B-4E22-A3C7-75F67934AFFD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08593-9999-46B0-AA2F-E39338DD28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4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9C2E8-3C04-4FCC-ADCB-D817C291D11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Nguyen Dang Nhan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08593-9999-46B0-AA2F-E39338DD28D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93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082A-1BB2-D7BC-EE85-70629CFD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6FBCA-1C2C-C839-2F7B-4FE0BAF6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860EA-055F-8C22-6C11-B898C307E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7E910-6584-95E4-723F-44D07D488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08593-9999-46B0-AA2F-E39338DD28D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23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E184-4E8F-526C-2653-E185C858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2F6A9-DB09-6CE7-F428-7272F6F04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674AD-3E66-1A49-E5B2-CB86E3153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C1442-F382-AA42-DCC3-BA893B7EE8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08593-9999-46B0-AA2F-E39338DD28D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00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47949-23F6-7A50-C90C-B497640F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4FCBA-8C74-2786-47F2-396F80FC7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9608B-9B79-E65D-722F-49C00C573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EB166-A066-F0E8-21F8-715407ACC2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08593-9999-46B0-AA2F-E39338DD28D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72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9F20-5354-C225-8530-391DDFF26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78D65-919B-6CD3-4A92-5A838B2F6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CFCBC-7A9C-76FD-3071-E9644588A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9E7FC-D9CA-8CB1-ECD5-3A5EE1E47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08593-9999-46B0-AA2F-E39338DD28D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25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5B84F-848D-DFC8-4C7C-AFD86F32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EECBD-1A3B-9618-3119-C2101C948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93F22-C833-B40B-9F1D-C742F3EC3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3D395-813A-04B5-00EC-BCA7E5FD5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08593-9999-46B0-AA2F-E39338DD28D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02" name="Picture 14" descr="OFD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54550"/>
            <a:ext cx="9144000" cy="1485900"/>
          </a:xfrm>
          <a:prstGeom prst="rect">
            <a:avLst/>
          </a:prstGeom>
          <a:noFill/>
        </p:spPr>
      </p:pic>
      <p:sp>
        <p:nvSpPr>
          <p:cNvPr id="3789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2133600"/>
            <a:ext cx="7772400" cy="1470025"/>
          </a:xfrm>
        </p:spPr>
        <p:txBody>
          <a:bodyPr/>
          <a:lstStyle>
            <a:lvl1pPr algn="ctr">
              <a:defRPr kumimoji="0" baseline="0"/>
            </a:lvl1pPr>
          </a:lstStyle>
          <a:p>
            <a:r>
              <a:rPr lang="en-US" altLang="ja-JP" dirty="0"/>
              <a:t>Master Presentation Title Format</a:t>
            </a:r>
            <a:endParaRPr lang="ja-JP" altLang="ja-JP" dirty="0"/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 flipH="1">
            <a:off x="0" y="4652963"/>
            <a:ext cx="9144000" cy="1560512"/>
          </a:xfrm>
          <a:prstGeom prst="rect">
            <a:avLst/>
          </a:prstGeom>
          <a:solidFill>
            <a:schemeClr val="bg1">
              <a:alpha val="3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aseline="0"/>
            </a:lvl1pPr>
          </a:lstStyle>
          <a:p>
            <a:r>
              <a:rPr lang="en-US" altLang="ja-JP" dirty="0"/>
              <a:t>Master Presentation Sub-Title Format</a:t>
            </a:r>
            <a:endParaRPr lang="ja-JP" altLang="ja-JP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E0A2-F8E5-45BD-BEEC-28BD51A298E4}" type="datetime1">
              <a:rPr kumimoji="1" lang="en-US" altLang="ja-JP" smtClean="0"/>
              <a:t>5/10/2026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Copyrights 2016 UIT-CE. All Rights Reserved.</a:t>
            </a:r>
            <a:endParaRPr kumimoji="1"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6" y="10715"/>
            <a:ext cx="1762101" cy="17621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72008"/>
            <a:ext cx="1362874" cy="16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42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8E3929-EB02-46DA-BB5F-26DFD1F576BD}" type="datetime1">
              <a:rPr kumimoji="1" lang="en-US" altLang="ja-JP" smtClean="0"/>
              <a:t>5/10/2026</a:t>
            </a:fld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 dirty="0"/>
              <a:t>Copyrights 2016 UIT-CE. All Rights Reserved.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34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A0881-0C75-4E82-B86B-5A7B14260C5E}" type="datetime1">
              <a:rPr kumimoji="1" lang="en-US" altLang="ja-JP" smtClean="0"/>
              <a:t>5/10/2026</a:t>
            </a:fld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2016 UIT-CE. All Rights Reserved.</a:t>
            </a:r>
            <a:endParaRPr kumimoji="1" lang="ja-JP" alt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70206" y="1012873"/>
            <a:ext cx="7620000" cy="130127"/>
            <a:chOff x="770206" y="1012873"/>
            <a:chExt cx="7620000" cy="130127"/>
          </a:xfrm>
        </p:grpSpPr>
        <p:sp>
          <p:nvSpPr>
            <p:cNvPr id="8" name="Title 1"/>
            <p:cNvSpPr txBox="1">
              <a:spLocks/>
            </p:cNvSpPr>
            <p:nvPr userDrawn="1"/>
          </p:nvSpPr>
          <p:spPr>
            <a:xfrm>
              <a:off x="1989406" y="1012873"/>
              <a:ext cx="6400800" cy="13012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9" name="Title 1"/>
            <p:cNvSpPr txBox="1">
              <a:spLocks/>
            </p:cNvSpPr>
            <p:nvPr userDrawn="1"/>
          </p:nvSpPr>
          <p:spPr>
            <a:xfrm>
              <a:off x="770206" y="1012873"/>
              <a:ext cx="152400" cy="130127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0" name="Title 1"/>
            <p:cNvSpPr txBox="1">
              <a:spLocks/>
            </p:cNvSpPr>
            <p:nvPr userDrawn="1"/>
          </p:nvSpPr>
          <p:spPr>
            <a:xfrm>
              <a:off x="1075006" y="1012873"/>
              <a:ext cx="228600" cy="130127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1" name="Title 1"/>
            <p:cNvSpPr txBox="1">
              <a:spLocks/>
            </p:cNvSpPr>
            <p:nvPr userDrawn="1"/>
          </p:nvSpPr>
          <p:spPr>
            <a:xfrm>
              <a:off x="1456006" y="1012873"/>
              <a:ext cx="381000" cy="130127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30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 baseline="0"/>
            </a:lvl1pPr>
          </a:lstStyle>
          <a:p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152681-C1F7-4D08-BD17-E95CF99C57DC}" type="datetime1">
              <a:rPr kumimoji="1" lang="en-US" altLang="ja-JP" smtClean="0"/>
              <a:t>5/10/2026</a:t>
            </a:fld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2016 UIT-CE. All Rights Reserved.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2420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 hasCustomPrompt="1"/>
          </p:nvPr>
        </p:nvSpPr>
        <p:spPr>
          <a:xfrm>
            <a:off x="468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9BF29C-CFD5-4F32-8A28-05EA2BF50202}" type="datetime1">
              <a:rPr kumimoji="1" lang="en-US" altLang="ja-JP" smtClean="0"/>
              <a:t>5/10/2026</a:t>
            </a:fld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コンテンツ プレースホルダ 2"/>
          <p:cNvSpPr>
            <a:spLocks noGrp="1"/>
          </p:cNvSpPr>
          <p:nvPr>
            <p:ph sz="half" idx="13" hasCustomPrompt="1"/>
          </p:nvPr>
        </p:nvSpPr>
        <p:spPr>
          <a:xfrm>
            <a:off x="4709864" y="16288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2016 UIT-CE. All Rights Reserved.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8295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203"/>
            <a:ext cx="8229600" cy="9483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770206" y="1012873"/>
            <a:ext cx="7620000" cy="130127"/>
            <a:chOff x="770206" y="1012873"/>
            <a:chExt cx="7620000" cy="130127"/>
          </a:xfrm>
        </p:grpSpPr>
        <p:sp>
          <p:nvSpPr>
            <p:cNvPr id="11" name="Title 1"/>
            <p:cNvSpPr txBox="1">
              <a:spLocks/>
            </p:cNvSpPr>
            <p:nvPr userDrawn="1"/>
          </p:nvSpPr>
          <p:spPr>
            <a:xfrm>
              <a:off x="1989406" y="1012873"/>
              <a:ext cx="6400800" cy="13012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2" name="Title 1"/>
            <p:cNvSpPr txBox="1">
              <a:spLocks/>
            </p:cNvSpPr>
            <p:nvPr userDrawn="1"/>
          </p:nvSpPr>
          <p:spPr>
            <a:xfrm>
              <a:off x="770206" y="1012873"/>
              <a:ext cx="152400" cy="130127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3" name="Title 1"/>
            <p:cNvSpPr txBox="1">
              <a:spLocks/>
            </p:cNvSpPr>
            <p:nvPr userDrawn="1"/>
          </p:nvSpPr>
          <p:spPr>
            <a:xfrm>
              <a:off x="1075006" y="1012873"/>
              <a:ext cx="228600" cy="130127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4" name="Title 1"/>
            <p:cNvSpPr txBox="1">
              <a:spLocks/>
            </p:cNvSpPr>
            <p:nvPr userDrawn="1"/>
          </p:nvSpPr>
          <p:spPr>
            <a:xfrm>
              <a:off x="1456006" y="1012873"/>
              <a:ext cx="381000" cy="130127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2874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4953000"/>
          </a:xfrm>
        </p:spPr>
        <p:txBody>
          <a:bodyPr>
            <a:normAutofit/>
          </a:bodyPr>
          <a:lstStyle>
            <a:lvl1pPr>
              <a:defRPr sz="2800">
                <a:latin typeface="Times New Roman" pitchFamily="18" charset="0"/>
                <a:cs typeface="Times New Roman" pitchFamily="18" charset="0"/>
              </a:defRPr>
            </a:lvl1pPr>
            <a:lvl2pPr>
              <a:defRPr sz="2400"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latin typeface="Times New Roman" pitchFamily="18" charset="0"/>
                <a:cs typeface="Times New Roman" pitchFamily="18" charset="0"/>
              </a:defRPr>
            </a:lvl3pPr>
            <a:lvl4pPr>
              <a:defRPr sz="2400">
                <a:latin typeface="Times New Roman" pitchFamily="18" charset="0"/>
                <a:cs typeface="Times New Roman" pitchFamily="18" charset="0"/>
              </a:defRPr>
            </a:lvl4pPr>
            <a:lvl5pPr>
              <a:defRPr sz="24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0"/>
          </p:nvPr>
        </p:nvSpPr>
        <p:spPr>
          <a:xfrm>
            <a:off x="460374" y="5562600"/>
            <a:ext cx="4721225" cy="1079365"/>
          </a:xfrm>
        </p:spPr>
        <p:txBody>
          <a:bodyPr anchor="ctr"/>
          <a:lstStyle>
            <a:lvl1pPr marL="0" indent="0">
              <a:buNone/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15000" y="5562600"/>
            <a:ext cx="2974975" cy="1079365"/>
          </a:xfrm>
        </p:spPr>
        <p:txBody>
          <a:bodyPr anchor="ctr"/>
          <a:lstStyle>
            <a:lvl1pPr marL="0" indent="0">
              <a:buNone/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5382064" y="5543065"/>
            <a:ext cx="130128" cy="1149096"/>
            <a:chOff x="5382064" y="5543065"/>
            <a:chExt cx="130128" cy="1149096"/>
          </a:xfrm>
        </p:grpSpPr>
        <p:sp>
          <p:nvSpPr>
            <p:cNvPr id="9" name="Title 1"/>
            <p:cNvSpPr txBox="1">
              <a:spLocks/>
            </p:cNvSpPr>
            <p:nvPr userDrawn="1"/>
          </p:nvSpPr>
          <p:spPr>
            <a:xfrm rot="5400000">
              <a:off x="5031076" y="6211045"/>
              <a:ext cx="832104" cy="13012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0" name="Title 1"/>
            <p:cNvSpPr txBox="1">
              <a:spLocks/>
            </p:cNvSpPr>
            <p:nvPr userDrawn="1"/>
          </p:nvSpPr>
          <p:spPr>
            <a:xfrm rot="5400000">
              <a:off x="5427316" y="5497813"/>
              <a:ext cx="39624" cy="130128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1" name="Title 1"/>
            <p:cNvSpPr txBox="1">
              <a:spLocks/>
            </p:cNvSpPr>
            <p:nvPr userDrawn="1"/>
          </p:nvSpPr>
          <p:spPr>
            <a:xfrm rot="5400000">
              <a:off x="5417410" y="5586967"/>
              <a:ext cx="59436" cy="130128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4" name="Title 1"/>
            <p:cNvSpPr txBox="1">
              <a:spLocks/>
            </p:cNvSpPr>
            <p:nvPr userDrawn="1"/>
          </p:nvSpPr>
          <p:spPr>
            <a:xfrm rot="5400000">
              <a:off x="5397598" y="5705839"/>
              <a:ext cx="99060" cy="130128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0170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4953000"/>
          </a:xfrm>
        </p:spPr>
        <p:txBody>
          <a:bodyPr>
            <a:normAutofit/>
          </a:bodyPr>
          <a:lstStyle>
            <a:lvl1pPr>
              <a:defRPr sz="2800">
                <a:latin typeface="Times New Roman" pitchFamily="18" charset="0"/>
                <a:cs typeface="Times New Roman" pitchFamily="18" charset="0"/>
              </a:defRPr>
            </a:lvl1pPr>
            <a:lvl2pPr>
              <a:defRPr sz="2400"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latin typeface="Times New Roman" pitchFamily="18" charset="0"/>
                <a:cs typeface="Times New Roman" pitchFamily="18" charset="0"/>
              </a:defRPr>
            </a:lvl3pPr>
            <a:lvl4pPr>
              <a:defRPr sz="2400">
                <a:latin typeface="Times New Roman" pitchFamily="18" charset="0"/>
                <a:cs typeface="Times New Roman" pitchFamily="18" charset="0"/>
              </a:defRPr>
            </a:lvl4pPr>
            <a:lvl5pPr>
              <a:defRPr sz="24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0"/>
          </p:nvPr>
        </p:nvSpPr>
        <p:spPr>
          <a:xfrm>
            <a:off x="460374" y="5562600"/>
            <a:ext cx="4721225" cy="1079365"/>
          </a:xfrm>
        </p:spPr>
        <p:txBody>
          <a:bodyPr anchor="ctr"/>
          <a:lstStyle>
            <a:lvl1pPr marL="0" indent="0">
              <a:buNone/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15000" y="5562600"/>
            <a:ext cx="2974975" cy="1079365"/>
          </a:xfrm>
        </p:spPr>
        <p:txBody>
          <a:bodyPr anchor="ctr"/>
          <a:lstStyle>
            <a:lvl1pPr marL="0" indent="0">
              <a:buNone/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5382064" y="5543065"/>
            <a:ext cx="130128" cy="1149096"/>
            <a:chOff x="5382064" y="5543065"/>
            <a:chExt cx="130128" cy="1149096"/>
          </a:xfrm>
        </p:grpSpPr>
        <p:sp>
          <p:nvSpPr>
            <p:cNvPr id="9" name="Title 1"/>
            <p:cNvSpPr txBox="1">
              <a:spLocks/>
            </p:cNvSpPr>
            <p:nvPr userDrawn="1"/>
          </p:nvSpPr>
          <p:spPr>
            <a:xfrm rot="5400000">
              <a:off x="5031076" y="6211045"/>
              <a:ext cx="832104" cy="13012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0" name="Title 1"/>
            <p:cNvSpPr txBox="1">
              <a:spLocks/>
            </p:cNvSpPr>
            <p:nvPr userDrawn="1"/>
          </p:nvSpPr>
          <p:spPr>
            <a:xfrm rot="5400000">
              <a:off x="5427316" y="5497813"/>
              <a:ext cx="39624" cy="130128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1" name="Title 1"/>
            <p:cNvSpPr txBox="1">
              <a:spLocks/>
            </p:cNvSpPr>
            <p:nvPr userDrawn="1"/>
          </p:nvSpPr>
          <p:spPr>
            <a:xfrm rot="5400000">
              <a:off x="5417410" y="5586967"/>
              <a:ext cx="59436" cy="130128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  <p:sp>
          <p:nvSpPr>
            <p:cNvPr id="14" name="Title 1"/>
            <p:cNvSpPr txBox="1">
              <a:spLocks/>
            </p:cNvSpPr>
            <p:nvPr userDrawn="1"/>
          </p:nvSpPr>
          <p:spPr>
            <a:xfrm rot="5400000">
              <a:off x="5397598" y="5705839"/>
              <a:ext cx="99060" cy="130128"/>
            </a:xfrm>
            <a:prstGeom prst="rect">
              <a:avLst/>
            </a:prstGeom>
            <a:solidFill>
              <a:srgbClr val="A4CA39"/>
            </a:solidFill>
            <a:ln>
              <a:solidFill>
                <a:srgbClr val="A4CA39"/>
              </a:solidFill>
            </a:ln>
          </p:spPr>
          <p:txBody>
            <a:bodyPr vert="horz" lIns="91440" tIns="45720" rIns="91440" bIns="45720" rtlCol="0" anchor="ctr">
              <a:normAutofit fontScale="25000" lnSpcReduction="200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endParaRPr lang="en-US" dirty="0"/>
            </a:p>
          </p:txBody>
        </p:sp>
      </p:grpSp>
      <p:sp>
        <p:nvSpPr>
          <p:cNvPr id="4" name="Rectangle 3"/>
          <p:cNvSpPr/>
          <p:nvPr userDrawn="1"/>
        </p:nvSpPr>
        <p:spPr>
          <a:xfrm>
            <a:off x="0" y="0"/>
            <a:ext cx="9129932" cy="6850966"/>
          </a:xfrm>
          <a:prstGeom prst="rect">
            <a:avLst/>
          </a:prstGeom>
          <a:noFill/>
          <a:ln w="11430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5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Picture 41" descr="OFDM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79388" y="84138"/>
            <a:ext cx="7983537" cy="1296987"/>
          </a:xfrm>
          <a:prstGeom prst="rect">
            <a:avLst/>
          </a:prstGeom>
          <a:noFill/>
        </p:spPr>
      </p:pic>
      <p:sp>
        <p:nvSpPr>
          <p:cNvPr id="1066" name="Rectangle 42"/>
          <p:cNvSpPr>
            <a:spLocks noChangeArrowheads="1"/>
          </p:cNvSpPr>
          <p:nvPr/>
        </p:nvSpPr>
        <p:spPr bwMode="auto">
          <a:xfrm>
            <a:off x="0" y="44450"/>
            <a:ext cx="8640763" cy="1296988"/>
          </a:xfrm>
          <a:prstGeom prst="rect">
            <a:avLst/>
          </a:prstGeom>
          <a:solidFill>
            <a:schemeClr val="bg1">
              <a:alpha val="60001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287338"/>
            <a:ext cx="7354887" cy="69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1520" y="1412776"/>
            <a:ext cx="8640960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AE662248-5730-450D-8BD2-554360074593}" type="datetime1">
              <a:rPr kumimoji="1" lang="en-US" altLang="ja-JP" smtClean="0"/>
              <a:t>5/10/2026</a:t>
            </a:fld>
            <a:endParaRPr kumimoji="1" lang="ja-JP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1" lang="en-US" altLang="ja-JP" dirty="0"/>
              <a:t>Copyrights 2016 UIT-CE. All Rights Reserved.</a:t>
            </a:r>
            <a:endParaRPr kumimoji="1" lang="ja-JP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052" name="Line 28"/>
          <p:cNvSpPr>
            <a:spLocks noChangeShapeType="1"/>
          </p:cNvSpPr>
          <p:nvPr/>
        </p:nvSpPr>
        <p:spPr bwMode="auto">
          <a:xfrm>
            <a:off x="144463" y="1123680"/>
            <a:ext cx="8496300" cy="0"/>
          </a:xfrm>
          <a:prstGeom prst="line">
            <a:avLst/>
          </a:prstGeom>
          <a:noFill/>
          <a:ln w="9525">
            <a:solidFill>
              <a:srgbClr val="3366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92"/>
            <a:ext cx="1116507" cy="111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9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60" r:id="rId6"/>
    <p:sldLayoutId id="2147483654" r:id="rId7"/>
    <p:sldLayoutId id="2147483664" r:id="rId8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aseline="0">
          <a:solidFill>
            <a:srgbClr val="3366CC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8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p"/>
        <a:defRPr kumimoji="1" sz="24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p"/>
        <a:defRPr kumimoji="1" sz="18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18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1600" y="1928193"/>
            <a:ext cx="6400800" cy="1752600"/>
          </a:xfrm>
        </p:spPr>
        <p:txBody>
          <a:bodyPr/>
          <a:lstStyle/>
          <a:p>
            <a:r>
              <a:rPr lang="en-US" sz="3200" dirty="0"/>
              <a:t>Thiết </a:t>
            </a:r>
            <a:r>
              <a:rPr lang="en-US" sz="3200" dirty="0" err="1"/>
              <a:t>kế</a:t>
            </a:r>
            <a:r>
              <a:rPr lang="en-US" sz="3200" dirty="0"/>
              <a:t> </a:t>
            </a:r>
            <a:r>
              <a:rPr lang="en-US" sz="3200" dirty="0" err="1"/>
              <a:t>hệ</a:t>
            </a:r>
            <a:r>
              <a:rPr lang="en-US" sz="3200" dirty="0"/>
              <a:t> </a:t>
            </a:r>
            <a:r>
              <a:rPr lang="en-US" sz="3200" dirty="0" err="1"/>
              <a:t>thống</a:t>
            </a:r>
            <a:r>
              <a:rPr lang="en-US" sz="3200" dirty="0"/>
              <a:t> </a:t>
            </a:r>
            <a:r>
              <a:rPr lang="en-US" sz="3200" dirty="0" err="1"/>
              <a:t>số</a:t>
            </a:r>
            <a:r>
              <a:rPr lang="en-US" sz="3200" dirty="0"/>
              <a:t> </a:t>
            </a:r>
            <a:r>
              <a:rPr lang="en-US" sz="3200" dirty="0" err="1"/>
              <a:t>với</a:t>
            </a:r>
            <a:r>
              <a:rPr lang="en-US" sz="3200" dirty="0"/>
              <a:t> HDL</a:t>
            </a:r>
            <a:endParaRPr sz="3200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800" y="2804493"/>
            <a:ext cx="7772400" cy="1470025"/>
          </a:xfrm>
        </p:spPr>
        <p:txBody>
          <a:bodyPr/>
          <a:lstStyle/>
          <a:p>
            <a:r>
              <a:rPr lang="en-US" sz="4800" dirty="0"/>
              <a:t>FPGA Implementation of SHA3-256 Hash Core</a:t>
            </a:r>
            <a:endParaRPr sz="4800" dirty="0"/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9DFD8262-3D12-92FF-830D-A934B5873CB0}"/>
              </a:ext>
            </a:extLst>
          </p:cNvPr>
          <p:cNvSpPr txBox="1">
            <a:spLocks/>
          </p:cNvSpPr>
          <p:nvPr/>
        </p:nvSpPr>
        <p:spPr bwMode="auto">
          <a:xfrm>
            <a:off x="685800" y="50292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None/>
              <a:defRPr kumimoji="1" sz="28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sz="24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p"/>
              <a:defRPr kumimoji="1" sz="18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1800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sz="1800" kern="0" dirty="0"/>
              <a:t>Lê Văn Lợi 24520990</a:t>
            </a:r>
          </a:p>
          <a:p>
            <a:pPr algn="l"/>
            <a:r>
              <a:rPr lang="en-US" sz="1800" kern="0" dirty="0"/>
              <a:t>10/5/2026</a:t>
            </a:r>
          </a:p>
        </p:txBody>
      </p:sp>
    </p:spTree>
    <p:extLst>
      <p:ext uri="{BB962C8B-B14F-4D97-AF65-F5344CB8AC3E}">
        <p14:creationId xmlns:p14="http://schemas.microsoft.com/office/powerpoint/2010/main" val="186270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93763" y="304800"/>
            <a:ext cx="7354887" cy="693390"/>
          </a:xfrm>
        </p:spPr>
        <p:txBody>
          <a:bodyPr/>
          <a:lstStyle/>
          <a:p>
            <a:pPr algn="ctr"/>
            <a:r>
              <a:rPr lang="en-US" dirty="0"/>
              <a:t>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62671" y="1524000"/>
            <a:ext cx="8640960" cy="4824536"/>
          </a:xfrm>
        </p:spPr>
        <p:txBody>
          <a:bodyPr/>
          <a:lstStyle/>
          <a:p>
            <a:r>
              <a:rPr lang="vi-VN" sz="2000" b="1" dirty="0"/>
              <a:t>SHA3-256</a:t>
            </a:r>
            <a:r>
              <a:rPr lang="vi-VN" sz="2000" dirty="0"/>
              <a:t> là thuật toán băm mật mã thuộc họ </a:t>
            </a:r>
            <a:r>
              <a:rPr lang="vi-VN" sz="2000" b="1" dirty="0"/>
              <a:t>SHA-3</a:t>
            </a:r>
            <a:r>
              <a:rPr lang="vi-VN" sz="2000" dirty="0"/>
              <a:t>, tạo ra mã băm dài </a:t>
            </a:r>
            <a:r>
              <a:rPr lang="vi-VN" sz="2000" b="1" dirty="0"/>
              <a:t>256 </a:t>
            </a:r>
            <a:r>
              <a:rPr lang="vi-VN" sz="2000" b="1" dirty="0" err="1"/>
              <a:t>bit</a:t>
            </a:r>
            <a:r>
              <a:rPr lang="vi-VN" sz="2000" dirty="0"/>
              <a:t> từ dữ liệu đầu vào có độ dài bất kỳ. SHA3-256 dựa trên cấu trúc </a:t>
            </a:r>
            <a:r>
              <a:rPr lang="vi-VN" sz="2000" b="1" dirty="0" err="1"/>
              <a:t>sponge</a:t>
            </a:r>
            <a:r>
              <a:rPr lang="vi-VN" sz="2000" b="1" dirty="0"/>
              <a:t> </a:t>
            </a:r>
            <a:r>
              <a:rPr lang="vi-VN" sz="2000" b="1" dirty="0" err="1"/>
              <a:t>construction</a:t>
            </a:r>
            <a:r>
              <a:rPr lang="vi-VN" sz="2000" dirty="0"/>
              <a:t>, gồm hai pha chính: </a:t>
            </a:r>
            <a:r>
              <a:rPr lang="vi-VN" sz="2000" b="1" dirty="0" err="1"/>
              <a:t>absorbing</a:t>
            </a:r>
            <a:r>
              <a:rPr lang="vi-VN" sz="2000" dirty="0"/>
              <a:t> để hấp thụ dữ liệu và </a:t>
            </a:r>
            <a:r>
              <a:rPr lang="vi-VN" sz="2000" b="1" dirty="0" err="1"/>
              <a:t>squeezing</a:t>
            </a:r>
            <a:r>
              <a:rPr lang="vi-VN" sz="2000" dirty="0"/>
              <a:t> để tạo kết quả băm.</a:t>
            </a:r>
          </a:p>
          <a:p>
            <a:r>
              <a:rPr lang="vi-VN" sz="2000" dirty="0"/>
              <a:t>Lõi xử lý của SHA3-256 sử dụng phép hoán vị </a:t>
            </a:r>
            <a:r>
              <a:rPr lang="vi-VN" sz="2000" b="1" dirty="0" err="1"/>
              <a:t>Keccak</a:t>
            </a:r>
            <a:r>
              <a:rPr lang="vi-VN" sz="2000" b="1" dirty="0"/>
              <a:t>-f[1600]</a:t>
            </a:r>
            <a:r>
              <a:rPr lang="vi-VN" sz="2000" dirty="0"/>
              <a:t> với trạng thái nội bộ 1600 </a:t>
            </a:r>
            <a:r>
              <a:rPr lang="vi-VN" sz="2000" dirty="0" err="1"/>
              <a:t>bit</a:t>
            </a:r>
            <a:r>
              <a:rPr lang="vi-VN" sz="2000" dirty="0"/>
              <a:t>. Trong thiết kế phần cứng, trạng thái này thường được biểu diễn thành </a:t>
            </a:r>
            <a:r>
              <a:rPr lang="vi-VN" sz="2000" b="1" dirty="0"/>
              <a:t>25 </a:t>
            </a:r>
            <a:r>
              <a:rPr lang="vi-VN" sz="2000" b="1" dirty="0" err="1"/>
              <a:t>lane</a:t>
            </a:r>
            <a:r>
              <a:rPr lang="vi-VN" sz="2000" b="1" dirty="0"/>
              <a:t> 64-bit</a:t>
            </a:r>
            <a:r>
              <a:rPr lang="vi-VN" sz="2000" dirty="0"/>
              <a:t> để thuận tiện cho việc thực hiện các bước biến đổi </a:t>
            </a:r>
            <a:r>
              <a:rPr lang="vi-VN" sz="2000" dirty="0" err="1"/>
              <a:t>Theta</a:t>
            </a:r>
            <a:r>
              <a:rPr lang="vi-VN" sz="2000" dirty="0"/>
              <a:t>, </a:t>
            </a:r>
            <a:r>
              <a:rPr lang="vi-VN" sz="2000" dirty="0" err="1"/>
              <a:t>Rho</a:t>
            </a:r>
            <a:r>
              <a:rPr lang="vi-VN" sz="2000" dirty="0"/>
              <a:t>, </a:t>
            </a:r>
            <a:r>
              <a:rPr lang="vi-VN" sz="2000" dirty="0" err="1"/>
              <a:t>Pi</a:t>
            </a:r>
            <a:r>
              <a:rPr lang="vi-VN" sz="2000" dirty="0"/>
              <a:t>, Chi và </a:t>
            </a:r>
            <a:r>
              <a:rPr lang="vi-VN" sz="2000" dirty="0" err="1"/>
              <a:t>Iota</a:t>
            </a:r>
            <a:r>
              <a:rPr lang="vi-VN" sz="2000" dirty="0"/>
              <a:t>.</a:t>
            </a:r>
          </a:p>
          <a:p>
            <a:r>
              <a:rPr lang="vi-VN" sz="2000" dirty="0"/>
              <a:t>Trong đồ án này, SHA3-256 được triển khai trên FPGA với dữ liệu đầu vào 64-bit, có FIFO để đệm dữ liệu và lõi </a:t>
            </a:r>
            <a:r>
              <a:rPr lang="vi-VN" sz="2000" dirty="0" err="1"/>
              <a:t>Keccak</a:t>
            </a:r>
            <a:r>
              <a:rPr lang="vi-VN" sz="2000" dirty="0"/>
              <a:t> được tối ưu bằng kiến trúc xử lý </a:t>
            </a:r>
            <a:r>
              <a:rPr lang="vi-VN" sz="2000" b="1" dirty="0"/>
              <a:t>2 </a:t>
            </a:r>
            <a:r>
              <a:rPr lang="vi-VN" sz="2000" b="1" dirty="0" err="1"/>
              <a:t>round</a:t>
            </a:r>
            <a:r>
              <a:rPr lang="vi-VN" sz="2000" b="1" dirty="0"/>
              <a:t> trong một lần tính</a:t>
            </a:r>
            <a:r>
              <a:rPr lang="vi-VN" sz="2000" dirty="0"/>
              <a:t> kết hợp </a:t>
            </a:r>
            <a:r>
              <a:rPr lang="vi-VN" sz="2000" dirty="0" err="1"/>
              <a:t>pipeline</a:t>
            </a:r>
            <a:r>
              <a:rPr lang="vi-VN" sz="2000" dirty="0"/>
              <a:t> nhằm cải thiện </a:t>
            </a:r>
            <a:r>
              <a:rPr lang="vi-VN" sz="2000" dirty="0" err="1"/>
              <a:t>Fmax</a:t>
            </a:r>
            <a:r>
              <a:rPr lang="vi-VN" sz="2000" dirty="0"/>
              <a:t> và </a:t>
            </a:r>
            <a:r>
              <a:rPr lang="vi-VN" sz="2000" dirty="0" err="1"/>
              <a:t>throughput</a:t>
            </a:r>
            <a:r>
              <a:rPr lang="vi-VN" sz="2000" dirty="0"/>
              <a:t>.</a:t>
            </a:r>
          </a:p>
          <a:p>
            <a:pPr mar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423940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DBA5-AB48-F0F6-B46A-634D6AD4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DF8920C-2C5A-2C7D-A9F7-8B42DFDB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273993"/>
            <a:ext cx="7354887" cy="693390"/>
          </a:xfrm>
        </p:spPr>
        <p:txBody>
          <a:bodyPr/>
          <a:lstStyle/>
          <a:p>
            <a:pPr algn="ctr"/>
            <a:r>
              <a:rPr lang="en-US" dirty="0"/>
              <a:t>2. Sponge construction </a:t>
            </a:r>
            <a:r>
              <a:rPr lang="en-US" dirty="0" err="1"/>
              <a:t>trong</a:t>
            </a:r>
            <a:r>
              <a:rPr lang="en-US" dirty="0"/>
              <a:t> SHA3-256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82160C-772D-190B-B628-DC4EB0C3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322" y="1676400"/>
            <a:ext cx="6359768" cy="29525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CA6958-3884-BD67-FDAD-3D42ECC3FF45}"/>
              </a:ext>
            </a:extLst>
          </p:cNvPr>
          <p:cNvSpPr txBox="1"/>
          <p:nvPr/>
        </p:nvSpPr>
        <p:spPr>
          <a:xfrm>
            <a:off x="345832" y="4794369"/>
            <a:ext cx="85695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Hình trên mô tả cấu trúc </a:t>
            </a:r>
            <a:r>
              <a:rPr lang="vi-VN" dirty="0" err="1"/>
              <a:t>sponge</a:t>
            </a:r>
            <a:r>
              <a:rPr lang="vi-VN" dirty="0"/>
              <a:t> của SHA3-256. Ban đầu, </a:t>
            </a:r>
            <a:r>
              <a:rPr lang="vi-VN" dirty="0" err="1"/>
              <a:t>state</a:t>
            </a:r>
            <a:r>
              <a:rPr lang="vi-VN" dirty="0"/>
              <a:t> 1600 </a:t>
            </a:r>
            <a:r>
              <a:rPr lang="vi-VN" dirty="0" err="1"/>
              <a:t>bit</a:t>
            </a:r>
            <a:r>
              <a:rPr lang="vi-VN" dirty="0"/>
              <a:t> được khởi tạo bằng 0 và chia thành hai phần: </a:t>
            </a:r>
            <a:r>
              <a:rPr lang="vi-VN" dirty="0" err="1"/>
              <a:t>Rate</a:t>
            </a:r>
            <a:r>
              <a:rPr lang="vi-VN" dirty="0"/>
              <a:t> và </a:t>
            </a:r>
            <a:r>
              <a:rPr lang="vi-VN" dirty="0" err="1"/>
              <a:t>Capacity</a:t>
            </a:r>
            <a:r>
              <a:rPr lang="vi-VN" dirty="0"/>
              <a:t>. Dữ liệu đầu vào sau </a:t>
            </a:r>
            <a:r>
              <a:rPr lang="vi-VN" dirty="0" err="1"/>
              <a:t>padding</a:t>
            </a:r>
            <a:r>
              <a:rPr lang="vi-VN" dirty="0"/>
              <a:t> được chia thành các </a:t>
            </a:r>
            <a:r>
              <a:rPr lang="vi-VN" dirty="0" err="1"/>
              <a:t>block</a:t>
            </a:r>
            <a:r>
              <a:rPr lang="vi-VN" dirty="0"/>
              <a:t> r-</a:t>
            </a:r>
            <a:r>
              <a:rPr lang="vi-VN" dirty="0" err="1"/>
              <a:t>bit</a:t>
            </a:r>
            <a:r>
              <a:rPr lang="vi-VN" dirty="0"/>
              <a:t>. Trong pha </a:t>
            </a:r>
            <a:r>
              <a:rPr lang="vi-VN" dirty="0" err="1"/>
              <a:t>Absorbing</a:t>
            </a:r>
            <a:r>
              <a:rPr lang="vi-VN" dirty="0"/>
              <a:t>, từng </a:t>
            </a:r>
            <a:r>
              <a:rPr lang="vi-VN" dirty="0" err="1"/>
              <a:t>block</a:t>
            </a:r>
            <a:r>
              <a:rPr lang="vi-VN" dirty="0"/>
              <a:t> được XOR vào phần </a:t>
            </a:r>
            <a:r>
              <a:rPr lang="vi-VN" dirty="0" err="1"/>
              <a:t>Rate</a:t>
            </a:r>
            <a:r>
              <a:rPr lang="vi-VN" dirty="0"/>
              <a:t>, sau đó toàn bộ </a:t>
            </a:r>
            <a:r>
              <a:rPr lang="vi-VN" dirty="0" err="1"/>
              <a:t>state</a:t>
            </a:r>
            <a:r>
              <a:rPr lang="vi-VN" dirty="0"/>
              <a:t> được đưa qua hàm hoán vị </a:t>
            </a:r>
            <a:r>
              <a:rPr lang="vi-VN" dirty="0" err="1"/>
              <a:t>Keccak</a:t>
            </a:r>
            <a:r>
              <a:rPr lang="vi-VN" dirty="0"/>
              <a:t>-f[1600]. Quá trình này lặp lại cho đến khi xử lý hết </a:t>
            </a:r>
            <a:r>
              <a:rPr lang="vi-VN" dirty="0" err="1"/>
              <a:t>message</a:t>
            </a:r>
            <a:r>
              <a:rPr lang="vi-VN" dirty="0"/>
              <a:t>. Ở pha </a:t>
            </a:r>
            <a:r>
              <a:rPr lang="vi-VN" dirty="0" err="1"/>
              <a:t>Squeezing</a:t>
            </a:r>
            <a:r>
              <a:rPr lang="vi-VN" dirty="0"/>
              <a:t>, 256 </a:t>
            </a:r>
            <a:r>
              <a:rPr lang="vi-VN" dirty="0" err="1"/>
              <a:t>bit</a:t>
            </a:r>
            <a:r>
              <a:rPr lang="vi-VN" dirty="0"/>
              <a:t> đầu từ phần </a:t>
            </a:r>
            <a:r>
              <a:rPr lang="vi-VN" dirty="0" err="1"/>
              <a:t>Rate</a:t>
            </a:r>
            <a:r>
              <a:rPr lang="vi-VN" dirty="0"/>
              <a:t> được trích xuất để tạo ra giá trị băm SHA3-256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61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448D-1A24-174C-7356-0C37DBED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8202F1-8AEF-BCBE-4A8E-9A017ED08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304800"/>
            <a:ext cx="7354887" cy="693390"/>
          </a:xfrm>
        </p:spPr>
        <p:txBody>
          <a:bodyPr/>
          <a:lstStyle/>
          <a:p>
            <a:pPr algn="ctr"/>
            <a:r>
              <a:rPr lang="en-US" dirty="0"/>
              <a:t>3. D</a:t>
            </a:r>
            <a:r>
              <a:rPr lang="vi-VN" dirty="0" err="1"/>
              <a:t>atapath</a:t>
            </a:r>
            <a:r>
              <a:rPr lang="vi-VN" dirty="0"/>
              <a:t> tối ưu của lõi </a:t>
            </a:r>
            <a:r>
              <a:rPr lang="vi-VN" dirty="0" err="1"/>
              <a:t>Keccak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4BD067-6B56-68ED-0C19-2C588D01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95401"/>
            <a:ext cx="6343942" cy="32003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E8FED6-2B5A-6E64-CB1C-3A987E5DC12C}"/>
              </a:ext>
            </a:extLst>
          </p:cNvPr>
          <p:cNvSpPr txBox="1"/>
          <p:nvPr/>
        </p:nvSpPr>
        <p:spPr>
          <a:xfrm>
            <a:off x="385781" y="4772854"/>
            <a:ext cx="83708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Lõi </a:t>
            </a:r>
            <a:r>
              <a:rPr lang="vi-VN" dirty="0" err="1"/>
              <a:t>Keccak</a:t>
            </a:r>
            <a:r>
              <a:rPr lang="vi-VN" dirty="0"/>
              <a:t>-f[1600] được tối ưu theo hướng 2-round </a:t>
            </a:r>
            <a:r>
              <a:rPr lang="vi-VN" dirty="0" err="1"/>
              <a:t>unrolling</a:t>
            </a:r>
            <a:r>
              <a:rPr lang="vi-VN" dirty="0"/>
              <a:t> kết hợp </a:t>
            </a:r>
            <a:r>
              <a:rPr lang="vi-VN" dirty="0" err="1"/>
              <a:t>pipeline</a:t>
            </a:r>
            <a:r>
              <a:rPr lang="vi-VN" dirty="0"/>
              <a:t>. Mỗi lần cập nhật </a:t>
            </a:r>
            <a:r>
              <a:rPr lang="vi-VN" dirty="0" err="1"/>
              <a:t>state</a:t>
            </a:r>
            <a:r>
              <a:rPr lang="vi-VN" dirty="0"/>
              <a:t>, phần cứng xử lý liên tiếp hai </a:t>
            </a:r>
            <a:r>
              <a:rPr lang="vi-VN" dirty="0" err="1"/>
              <a:t>round</a:t>
            </a:r>
            <a:r>
              <a:rPr lang="vi-VN" dirty="0"/>
              <a:t> </a:t>
            </a:r>
            <a:r>
              <a:rPr lang="vi-VN" dirty="0" err="1"/>
              <a:t>Keccak</a:t>
            </a:r>
            <a:r>
              <a:rPr lang="vi-VN" dirty="0"/>
              <a:t>, bao gồm các bước </a:t>
            </a:r>
            <a:r>
              <a:rPr lang="vi-VN" dirty="0" err="1"/>
              <a:t>Theta</a:t>
            </a:r>
            <a:r>
              <a:rPr lang="vi-VN" dirty="0"/>
              <a:t>, </a:t>
            </a:r>
            <a:r>
              <a:rPr lang="vi-VN" dirty="0" err="1"/>
              <a:t>Rho</a:t>
            </a:r>
            <a:r>
              <a:rPr lang="vi-VN" dirty="0"/>
              <a:t>, </a:t>
            </a:r>
            <a:r>
              <a:rPr lang="vi-VN" dirty="0" err="1"/>
              <a:t>Pi</a:t>
            </a:r>
            <a:r>
              <a:rPr lang="vi-VN" dirty="0"/>
              <a:t>, Chi và </a:t>
            </a:r>
            <a:r>
              <a:rPr lang="vi-VN" dirty="0" err="1"/>
              <a:t>Iota</a:t>
            </a:r>
            <a:r>
              <a:rPr lang="vi-VN" dirty="0"/>
              <a:t>. Nhờ đó, số lần lặp giảm từ 24 xuống còn 12. Các thanh ghi </a:t>
            </a:r>
            <a:r>
              <a:rPr lang="vi-VN" dirty="0" err="1"/>
              <a:t>pipeline</a:t>
            </a:r>
            <a:r>
              <a:rPr lang="vi-VN" dirty="0"/>
              <a:t> được chèn vào </a:t>
            </a:r>
            <a:r>
              <a:rPr lang="vi-VN" dirty="0" err="1"/>
              <a:t>datapath</a:t>
            </a:r>
            <a:r>
              <a:rPr lang="vi-VN" dirty="0"/>
              <a:t> để cắt </a:t>
            </a:r>
            <a:r>
              <a:rPr lang="vi-VN" dirty="0" err="1"/>
              <a:t>critical</a:t>
            </a:r>
            <a:r>
              <a:rPr lang="vi-VN" dirty="0"/>
              <a:t> </a:t>
            </a:r>
            <a:r>
              <a:rPr lang="vi-VN" dirty="0" err="1"/>
              <a:t>path</a:t>
            </a:r>
            <a:r>
              <a:rPr lang="vi-VN" dirty="0"/>
              <a:t>, đặc biệt sau các bước có độ trễ lớn như </a:t>
            </a:r>
            <a:r>
              <a:rPr lang="vi-VN" dirty="0" err="1"/>
              <a:t>Theta</a:t>
            </a:r>
            <a:r>
              <a:rPr lang="vi-VN" dirty="0"/>
              <a:t>, giúp tăng </a:t>
            </a:r>
            <a:r>
              <a:rPr lang="vi-VN" dirty="0" err="1"/>
              <a:t>Fmax</a:t>
            </a:r>
            <a:r>
              <a:rPr lang="vi-VN" dirty="0"/>
              <a:t>. Ngoài ra, bước </a:t>
            </a:r>
            <a:r>
              <a:rPr lang="vi-VN" dirty="0" err="1"/>
              <a:t>Iota</a:t>
            </a:r>
            <a:r>
              <a:rPr lang="vi-VN" dirty="0"/>
              <a:t> sử dụng bộ sinh </a:t>
            </a:r>
            <a:r>
              <a:rPr lang="vi-VN" dirty="0" err="1"/>
              <a:t>round</a:t>
            </a:r>
            <a:r>
              <a:rPr lang="vi-VN" dirty="0"/>
              <a:t> </a:t>
            </a:r>
            <a:r>
              <a:rPr lang="vi-VN" dirty="0" err="1"/>
              <a:t>constant</a:t>
            </a:r>
            <a:r>
              <a:rPr lang="vi-VN" dirty="0"/>
              <a:t> rút gọn 7-bit nhằm giảm tài nguyên LUT.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21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3532-3349-0EA4-B39A-3A012B7CF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392213-8544-F8E4-764B-F7035437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304800"/>
            <a:ext cx="7354887" cy="693390"/>
          </a:xfrm>
        </p:spPr>
        <p:txBody>
          <a:bodyPr/>
          <a:lstStyle/>
          <a:p>
            <a:pPr algn="ctr"/>
            <a:r>
              <a:rPr lang="en-US" dirty="0"/>
              <a:t>4. Padding &amp; FIFO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3BBE98-B4EF-9627-CBE8-4080EAFA6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69"/>
          <a:stretch>
            <a:fillRect/>
          </a:stretch>
        </p:blipFill>
        <p:spPr>
          <a:xfrm>
            <a:off x="128455" y="1295400"/>
            <a:ext cx="8885499" cy="3733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889DBF-5A8B-3DA4-14EF-F445A177C90C}"/>
              </a:ext>
            </a:extLst>
          </p:cNvPr>
          <p:cNvSpPr txBox="1"/>
          <p:nvPr/>
        </p:nvSpPr>
        <p:spPr>
          <a:xfrm>
            <a:off x="342105" y="5349154"/>
            <a:ext cx="845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latin typeface="+mj-lt"/>
              </a:rPr>
              <a:t>Nếu kết thúc đúng tại cuối </a:t>
            </a:r>
            <a:r>
              <a:rPr lang="vi-VN" dirty="0" err="1">
                <a:latin typeface="+mj-lt"/>
              </a:rPr>
              <a:t>block</a:t>
            </a:r>
            <a:r>
              <a:rPr lang="vi-VN" dirty="0">
                <a:latin typeface="+mj-lt"/>
              </a:rPr>
              <a:t> </a:t>
            </a:r>
            <a:r>
              <a:rPr lang="vi-VN" dirty="0" err="1">
                <a:latin typeface="+mj-lt"/>
              </a:rPr>
              <a:t>rate</a:t>
            </a:r>
            <a:r>
              <a:rPr lang="vi-VN" dirty="0">
                <a:latin typeface="+mj-lt"/>
              </a:rPr>
              <a:t> 136 </a:t>
            </a:r>
            <a:r>
              <a:rPr lang="vi-VN" dirty="0" err="1">
                <a:latin typeface="+mj-lt"/>
              </a:rPr>
              <a:t>byte</a:t>
            </a:r>
            <a:r>
              <a:rPr lang="vi-VN" dirty="0">
                <a:latin typeface="+mj-lt"/>
              </a:rPr>
              <a:t>,</a:t>
            </a:r>
            <a:r>
              <a:rPr lang="en-US" dirty="0">
                <a:latin typeface="+mj-lt"/>
              </a:rPr>
              <a:t> </a:t>
            </a:r>
            <a:r>
              <a:rPr lang="vi-VN" dirty="0">
                <a:latin typeface="+mj-lt"/>
              </a:rPr>
              <a:t>hệ thống phải chạy </a:t>
            </a:r>
            <a:r>
              <a:rPr lang="vi-VN" dirty="0" err="1">
                <a:latin typeface="+mj-lt"/>
              </a:rPr>
              <a:t>Keccak</a:t>
            </a:r>
            <a:r>
              <a:rPr lang="vi-VN" dirty="0">
                <a:latin typeface="+mj-lt"/>
              </a:rPr>
              <a:t>-f[1600] cho </a:t>
            </a:r>
            <a:r>
              <a:rPr lang="vi-VN" dirty="0" err="1">
                <a:latin typeface="+mj-lt"/>
              </a:rPr>
              <a:t>block</a:t>
            </a:r>
            <a:r>
              <a:rPr lang="vi-VN" dirty="0">
                <a:latin typeface="+mj-lt"/>
              </a:rPr>
              <a:t> dữ liệu trước, sau đó hấp thụ thêm một </a:t>
            </a:r>
            <a:r>
              <a:rPr lang="vi-VN" dirty="0" err="1">
                <a:latin typeface="+mj-lt"/>
              </a:rPr>
              <a:t>padding</a:t>
            </a:r>
            <a:r>
              <a:rPr lang="vi-VN" dirty="0">
                <a:latin typeface="+mj-lt"/>
              </a:rPr>
              <a:t> </a:t>
            </a:r>
            <a:r>
              <a:rPr lang="vi-VN" dirty="0" err="1">
                <a:latin typeface="+mj-lt"/>
              </a:rPr>
              <a:t>block</a:t>
            </a:r>
            <a:r>
              <a:rPr lang="vi-VN" dirty="0">
                <a:latin typeface="+mj-lt"/>
              </a:rPr>
              <a:t> riêng, trong đó 0x06 được XOR vào </a:t>
            </a:r>
            <a:r>
              <a:rPr lang="vi-VN" dirty="0" err="1">
                <a:latin typeface="+mj-lt"/>
              </a:rPr>
              <a:t>lane</a:t>
            </a:r>
            <a:r>
              <a:rPr lang="vi-VN" dirty="0">
                <a:latin typeface="+mj-lt"/>
              </a:rPr>
              <a:t> 0 và </a:t>
            </a:r>
            <a:r>
              <a:rPr lang="vi-VN" dirty="0" err="1">
                <a:latin typeface="+mj-lt"/>
              </a:rPr>
              <a:t>bit</a:t>
            </a:r>
            <a:r>
              <a:rPr lang="vi-VN" dirty="0">
                <a:latin typeface="+mj-lt"/>
              </a:rPr>
              <a:t> kết thúc 0x80 được XOR vào </a:t>
            </a:r>
            <a:r>
              <a:rPr lang="vi-VN" dirty="0" err="1">
                <a:latin typeface="+mj-lt"/>
              </a:rPr>
              <a:t>lane</a:t>
            </a:r>
            <a:r>
              <a:rPr lang="vi-VN" dirty="0">
                <a:latin typeface="+mj-lt"/>
              </a:rPr>
              <a:t> 16. </a:t>
            </a:r>
            <a:r>
              <a:rPr lang="vi-VN" dirty="0" err="1">
                <a:latin typeface="+mj-lt"/>
              </a:rPr>
              <a:t>Padding</a:t>
            </a:r>
            <a:r>
              <a:rPr lang="vi-VN" dirty="0">
                <a:latin typeface="+mj-lt"/>
              </a:rPr>
              <a:t> </a:t>
            </a:r>
            <a:r>
              <a:rPr lang="vi-VN" dirty="0" err="1">
                <a:latin typeface="+mj-lt"/>
              </a:rPr>
              <a:t>block</a:t>
            </a:r>
            <a:r>
              <a:rPr lang="vi-VN" dirty="0">
                <a:latin typeface="+mj-lt"/>
              </a:rPr>
              <a:t> này phải được XOR vào </a:t>
            </a:r>
            <a:r>
              <a:rPr lang="vi-VN" dirty="0" err="1">
                <a:latin typeface="+mj-lt"/>
              </a:rPr>
              <a:t>state</a:t>
            </a:r>
            <a:r>
              <a:rPr lang="vi-VN" dirty="0">
                <a:latin typeface="+mj-lt"/>
              </a:rPr>
              <a:t> hiện tại, không được </a:t>
            </a:r>
            <a:r>
              <a:rPr lang="vi-VN" dirty="0" err="1">
                <a:latin typeface="+mj-lt"/>
              </a:rPr>
              <a:t>reset</a:t>
            </a:r>
            <a:r>
              <a:rPr lang="vi-VN" dirty="0">
                <a:latin typeface="+mj-lt"/>
              </a:rPr>
              <a:t> </a:t>
            </a:r>
            <a:r>
              <a:rPr lang="vi-VN" dirty="0" err="1">
                <a:latin typeface="+mj-lt"/>
              </a:rPr>
              <a:t>state</a:t>
            </a:r>
            <a:r>
              <a:rPr lang="vi-VN" dirty="0">
                <a:latin typeface="+mj-lt"/>
              </a:rPr>
              <a:t> về 0.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371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E895F-7E46-A69D-90A6-8F8EC943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6D7149-D264-24E3-3E14-64957C39E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3" y="304800"/>
            <a:ext cx="7354887" cy="693390"/>
          </a:xfrm>
        </p:spPr>
        <p:txBody>
          <a:bodyPr/>
          <a:lstStyle/>
          <a:p>
            <a:pPr algn="ctr"/>
            <a:r>
              <a:rPr lang="en-US" dirty="0"/>
              <a:t>4. Padding &amp; FIFO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F839F-A94C-3895-9FF8-B8A37D761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25"/>
          <a:stretch>
            <a:fillRect/>
          </a:stretch>
        </p:blipFill>
        <p:spPr>
          <a:xfrm>
            <a:off x="0" y="1524000"/>
            <a:ext cx="9144000" cy="42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2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dirty="0"/>
              <a:t>5.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FSM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B671F7-0FFD-43B2-1F19-E88AE8115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997" y="1412776"/>
            <a:ext cx="4898006" cy="4824536"/>
          </a:xfrm>
          <a:prstGeom prst="rect">
            <a:avLst/>
          </a:prstGeom>
          <a:noFill/>
        </p:spPr>
      </p:pic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148AE695-27BC-3B31-9FC9-71011CF4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5A8E3929-EB02-46DA-BB5F-26DFD1F576BD}" type="datetime1">
              <a:rPr kumimoji="1" lang="en-US" altLang="ja-JP" smtClean="0"/>
              <a:pPr>
                <a:spcAft>
                  <a:spcPts val="600"/>
                </a:spcAft>
              </a:pPr>
              <a:t>5/10/2026</a:t>
            </a:fld>
            <a:endParaRPr kumimoji="1" lang="ja-JP" alt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EB9CFBCA-9A56-B159-8E92-4E54CC854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7</a:t>
            </a:fld>
            <a:endParaRPr kumimoji="1" lang="ja-JP" alt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F167C413-E630-8331-12E2-7F0F2557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2016 UIT-CE.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317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E74B-620E-0F59-12F4-1BBFBC71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2B98756-2F33-E6C5-C856-E69001AB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B5431C-1D10-1500-3290-A6607C7AB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25" y="1412776"/>
            <a:ext cx="8576950" cy="4557492"/>
          </a:xfrm>
          <a:prstGeom prst="rect">
            <a:avLst/>
          </a:prstGeom>
          <a:noFill/>
        </p:spPr>
      </p:pic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B5D3282-844D-200E-53CE-9C35C844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5A8E3929-EB02-46DA-BB5F-26DFD1F576BD}" type="datetime1">
              <a:rPr kumimoji="1" lang="en-US" altLang="ja-JP" smtClean="0"/>
              <a:pPr>
                <a:spcAft>
                  <a:spcPts val="600"/>
                </a:spcAft>
              </a:pPr>
              <a:t>5/10/2026</a:t>
            </a:fld>
            <a:endParaRPr kumimoji="1" lang="ja-JP" alt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1947987B-4CD0-551D-8317-24E8B17B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8</a:t>
            </a:fld>
            <a:endParaRPr kumimoji="1" lang="ja-JP" alt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D4394E92-4217-22C0-A8A7-7FF01D00D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2016 UIT-CE. All Rights Reserved.</a:t>
            </a:r>
            <a:endParaRPr kumimoji="1" lang="ja-JP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8FB2-F9A0-55D7-0671-C0C8BE90A273}"/>
              </a:ext>
            </a:extLst>
          </p:cNvPr>
          <p:cNvSpPr txBox="1"/>
          <p:nvPr/>
        </p:nvSpPr>
        <p:spPr>
          <a:xfrm>
            <a:off x="268657" y="5970268"/>
            <a:ext cx="845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Fmax </a:t>
            </a:r>
            <a:r>
              <a:rPr lang="en-US" dirty="0" err="1">
                <a:latin typeface="+mj-lt"/>
              </a:rPr>
              <a:t>đạt</a:t>
            </a:r>
            <a:r>
              <a:rPr lang="en-US" dirty="0">
                <a:latin typeface="+mj-lt"/>
              </a:rPr>
              <a:t>: 503Mhz</a:t>
            </a:r>
          </a:p>
        </p:txBody>
      </p:sp>
    </p:spTree>
    <p:extLst>
      <p:ext uri="{BB962C8B-B14F-4D97-AF65-F5344CB8AC3E}">
        <p14:creationId xmlns:p14="http://schemas.microsoft.com/office/powerpoint/2010/main" val="3296028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045ED-EDF4-3A68-5A04-D86548FD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463030D-4878-EB62-D5DE-2EE9936DA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C7C7A-7741-23EC-194B-F2BA5F53E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513588"/>
            <a:ext cx="8640960" cy="4622912"/>
          </a:xfrm>
          <a:prstGeom prst="rect">
            <a:avLst/>
          </a:prstGeom>
          <a:noFill/>
        </p:spPr>
      </p:pic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F0A1B03-47E1-1E89-761B-62C706A0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5A8E3929-EB02-46DA-BB5F-26DFD1F576BD}" type="datetime1">
              <a:rPr kumimoji="1" lang="en-US" altLang="ja-JP" smtClean="0"/>
              <a:pPr>
                <a:spcAft>
                  <a:spcPts val="600"/>
                </a:spcAft>
              </a:pPr>
              <a:t>5/10/2026</a:t>
            </a:fld>
            <a:endParaRPr kumimoji="1" lang="ja-JP" alt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C4C88D4-CE79-FF7F-EB52-B78DC9C1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9</a:t>
            </a:fld>
            <a:endParaRPr kumimoji="1" lang="ja-JP" alt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B9906298-4425-165E-CCE9-5B68C1E5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2016 UIT-CE.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959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8411-4BA3-FF54-0CCA-8DC20957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0BCCDE-6831-70D9-BC7A-0801EF3B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1BCFBC0-8909-F4B2-A20B-4B979C38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5A8E3929-EB02-46DA-BB5F-26DFD1F576BD}" type="datetime1">
              <a:rPr kumimoji="1" lang="en-US" altLang="ja-JP" smtClean="0"/>
              <a:pPr>
                <a:spcAft>
                  <a:spcPts val="600"/>
                </a:spcAft>
              </a:pPr>
              <a:t>5/10/2026</a:t>
            </a:fld>
            <a:endParaRPr kumimoji="1" lang="ja-JP" alt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0A6EBB3A-163B-157F-1A36-62BBE787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10</a:t>
            </a:fld>
            <a:endParaRPr kumimoji="1" lang="ja-JP" alt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526D5641-6969-A988-4B4B-91EF792A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2016 UIT-CE. All Rights Reserved.</a:t>
            </a:r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7B842-7158-0813-0A1C-3D586CFB8B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157"/>
          <a:stretch>
            <a:fillRect/>
          </a:stretch>
        </p:blipFill>
        <p:spPr>
          <a:xfrm>
            <a:off x="1169928" y="2438400"/>
            <a:ext cx="6802558" cy="297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5C8036-7A72-E06B-6F25-BBC27C0BACF8}"/>
              </a:ext>
            </a:extLst>
          </p:cNvPr>
          <p:cNvSpPr txBox="1"/>
          <p:nvPr/>
        </p:nvSpPr>
        <p:spPr>
          <a:xfrm>
            <a:off x="391667" y="1676400"/>
            <a:ext cx="8359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Efficient Hardware Implementations of High Throughput SHA-3 Candidates Keccak, Luffa and Blue Midnight Wish for Single- and Multi-Message Hashing</a:t>
            </a:r>
          </a:p>
        </p:txBody>
      </p:sp>
    </p:spTree>
    <p:extLst>
      <p:ext uri="{BB962C8B-B14F-4D97-AF65-F5344CB8AC3E}">
        <p14:creationId xmlns:p14="http://schemas.microsoft.com/office/powerpoint/2010/main" val="3073770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3ACDF-29B4-CDFC-813C-1AD3CE8D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165B5B-E30C-F8CE-0BE7-DDF62AE2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8A71624-121C-4CB3-2A5C-4976C7D7F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5A8E3929-EB02-46DA-BB5F-26DFD1F576BD}" type="datetime1">
              <a:rPr kumimoji="1" lang="en-US" altLang="ja-JP" smtClean="0"/>
              <a:pPr>
                <a:spcAft>
                  <a:spcPts val="600"/>
                </a:spcAft>
              </a:pPr>
              <a:t>5/10/2026</a:t>
            </a:fld>
            <a:endParaRPr kumimoji="1" lang="ja-JP" alt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2C63022C-06CA-C8E8-82C5-616F78A9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11</a:t>
            </a:fld>
            <a:endParaRPr kumimoji="1" lang="ja-JP" alt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84E8F799-024D-E6B4-8885-ACF89F64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2016 UIT-CE. All Rights Reserved.</a:t>
            </a:r>
            <a:endParaRPr kumimoji="1" lang="ja-JP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FAE85-CAC7-63A2-1518-707C73334449}"/>
              </a:ext>
            </a:extLst>
          </p:cNvPr>
          <p:cNvSpPr txBox="1"/>
          <p:nvPr/>
        </p:nvSpPr>
        <p:spPr>
          <a:xfrm>
            <a:off x="381000" y="1828800"/>
            <a:ext cx="8369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New High Throughput and Area Efficient SHA-3 Implementation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66FA70-132B-952E-33D8-E97D3B03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25001"/>
          <a:stretch>
            <a:fillRect/>
          </a:stretch>
        </p:blipFill>
        <p:spPr>
          <a:xfrm>
            <a:off x="987149" y="2514600"/>
            <a:ext cx="7169702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3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ECE3-EDC8-B525-DD1A-1CA6EF2C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E7B9E0E-59FC-A595-AAA9-B1678F9A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305B07D0-73E6-003F-D802-1B04A8DC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5A8E3929-EB02-46DA-BB5F-26DFD1F576BD}" type="datetime1">
              <a:rPr kumimoji="1" lang="en-US" altLang="ja-JP" smtClean="0"/>
              <a:pPr>
                <a:spcAft>
                  <a:spcPts val="600"/>
                </a:spcAft>
              </a:pPr>
              <a:t>5/10/2026</a:t>
            </a:fld>
            <a:endParaRPr kumimoji="1" lang="ja-JP" alt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027C4FA4-AD11-6D99-EB7D-8E367F55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12</a:t>
            </a:fld>
            <a:endParaRPr kumimoji="1" lang="ja-JP" alt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A728E1ED-EDB5-E84A-C61A-E55B21A0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2016 UIT-CE. All Rights Reserved.</a:t>
            </a:r>
            <a:endParaRPr kumimoji="1" lang="ja-JP" alt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AABCBA-F313-2503-7DE0-4EF5C5A41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89196"/>
              </p:ext>
            </p:extLst>
          </p:nvPr>
        </p:nvGraphicFramePr>
        <p:xfrm>
          <a:off x="391665" y="1524000"/>
          <a:ext cx="8359083" cy="4824413"/>
        </p:xfrm>
        <a:graphic>
          <a:graphicData uri="http://schemas.openxmlformats.org/drawingml/2006/table">
            <a:tbl>
              <a:tblPr/>
              <a:tblGrid>
                <a:gridCol w="928787">
                  <a:extLst>
                    <a:ext uri="{9D8B030D-6E8A-4147-A177-3AD203B41FA5}">
                      <a16:colId xmlns:a16="http://schemas.microsoft.com/office/drawing/2014/main" val="3569370821"/>
                    </a:ext>
                  </a:extLst>
                </a:gridCol>
                <a:gridCol w="928787">
                  <a:extLst>
                    <a:ext uri="{9D8B030D-6E8A-4147-A177-3AD203B41FA5}">
                      <a16:colId xmlns:a16="http://schemas.microsoft.com/office/drawing/2014/main" val="4239189444"/>
                    </a:ext>
                  </a:extLst>
                </a:gridCol>
                <a:gridCol w="928787">
                  <a:extLst>
                    <a:ext uri="{9D8B030D-6E8A-4147-A177-3AD203B41FA5}">
                      <a16:colId xmlns:a16="http://schemas.microsoft.com/office/drawing/2014/main" val="2490777832"/>
                    </a:ext>
                  </a:extLst>
                </a:gridCol>
                <a:gridCol w="928787">
                  <a:extLst>
                    <a:ext uri="{9D8B030D-6E8A-4147-A177-3AD203B41FA5}">
                      <a16:colId xmlns:a16="http://schemas.microsoft.com/office/drawing/2014/main" val="360403191"/>
                    </a:ext>
                  </a:extLst>
                </a:gridCol>
                <a:gridCol w="928787">
                  <a:extLst>
                    <a:ext uri="{9D8B030D-6E8A-4147-A177-3AD203B41FA5}">
                      <a16:colId xmlns:a16="http://schemas.microsoft.com/office/drawing/2014/main" val="334431612"/>
                    </a:ext>
                  </a:extLst>
                </a:gridCol>
                <a:gridCol w="928787">
                  <a:extLst>
                    <a:ext uri="{9D8B030D-6E8A-4147-A177-3AD203B41FA5}">
                      <a16:colId xmlns:a16="http://schemas.microsoft.com/office/drawing/2014/main" val="2986988422"/>
                    </a:ext>
                  </a:extLst>
                </a:gridCol>
                <a:gridCol w="928787">
                  <a:extLst>
                    <a:ext uri="{9D8B030D-6E8A-4147-A177-3AD203B41FA5}">
                      <a16:colId xmlns:a16="http://schemas.microsoft.com/office/drawing/2014/main" val="3132354312"/>
                    </a:ext>
                  </a:extLst>
                </a:gridCol>
                <a:gridCol w="928787">
                  <a:extLst>
                    <a:ext uri="{9D8B030D-6E8A-4147-A177-3AD203B41FA5}">
                      <a16:colId xmlns:a16="http://schemas.microsoft.com/office/drawing/2014/main" val="3457633062"/>
                    </a:ext>
                  </a:extLst>
                </a:gridCol>
                <a:gridCol w="928787">
                  <a:extLst>
                    <a:ext uri="{9D8B030D-6E8A-4147-A177-3AD203B41FA5}">
                      <a16:colId xmlns:a16="http://schemas.microsoft.com/office/drawing/2014/main" val="2651506656"/>
                    </a:ext>
                  </a:extLst>
                </a:gridCol>
              </a:tblGrid>
              <a:tr h="66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Source / Work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Algorithm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Hashing Method / Approach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Frequency (MHz)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# Rounds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Latency (cycles)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Area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Throughput (Gbps)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Efficiency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730935"/>
                  </a:ext>
                </a:extLst>
              </a:tr>
              <a:tr h="457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50"/>
                        <a:t>Wong et al. — Case I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SHA-3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Basic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153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24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–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871 Slices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3.68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4.22 Mbps/Slice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297354"/>
                  </a:ext>
                </a:extLst>
              </a:tr>
              <a:tr h="457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Wong et al. — Case II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SHA-3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Subpipeline n=2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335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24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–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1393 Slices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8.04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5.77 Mbps/Slice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02529"/>
                  </a:ext>
                </a:extLst>
              </a:tr>
              <a:tr h="56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Wong et al. — Case III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SHA-3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Unrolled k=2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45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24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–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2145 Slices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2.16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1.00 Mbps/Slice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861352"/>
                  </a:ext>
                </a:extLst>
              </a:tr>
              <a:tr h="56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Wong et al. — Case IV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SHA-3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050"/>
                        <a:t>Unrolled k=2, Pipeline n=2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85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24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–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1416 Slices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4.08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2.88 Mbps/Slice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267004"/>
                  </a:ext>
                </a:extLst>
              </a:tr>
              <a:tr h="457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Akin et al. — Virtex-2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Keccak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SMH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137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24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25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2024 Slices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5.81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2.87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054628"/>
                  </a:ext>
                </a:extLst>
              </a:tr>
              <a:tr h="457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Akin et al. — Virtex-2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Keccak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MMH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342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24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121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4356 Slices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14.99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3.44</a:t>
                      </a:r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87879"/>
                  </a:ext>
                </a:extLst>
              </a:tr>
              <a:tr h="1197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This work</a:t>
                      </a:r>
                      <a:endParaRPr lang="en-US" sz="105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SHA3-256</a:t>
                      </a:r>
                      <a:endParaRPr lang="en-US" sz="105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SMH, 2-round unrolled + pipelined </a:t>
                      </a:r>
                      <a:endParaRPr lang="en-US" sz="1050" dirty="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503.02</a:t>
                      </a:r>
                      <a:endParaRPr lang="en-US" sz="1050" dirty="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24</a:t>
                      </a:r>
                      <a:endParaRPr lang="en-US" sz="105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60</a:t>
                      </a:r>
                      <a:endParaRPr lang="en-US" sz="105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5554 LUT</a:t>
                      </a:r>
                      <a:endParaRPr lang="en-US" sz="105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9.12</a:t>
                      </a:r>
                      <a:endParaRPr lang="en-US" sz="105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1.64 Mbps/LUT</a:t>
                      </a:r>
                      <a:endParaRPr lang="en-US" sz="1050" dirty="0"/>
                    </a:p>
                  </a:txBody>
                  <a:tcPr marL="35215" marR="35215" marT="17607" marB="176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497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967256"/>
      </p:ext>
    </p:extLst>
  </p:cSld>
  <p:clrMapOvr>
    <a:masterClrMapping/>
  </p:clrMapOvr>
</p:sld>
</file>

<file path=ppt/theme/theme1.xml><?xml version="1.0" encoding="utf-8"?>
<a:theme xmlns:a="http://schemas.openxmlformats.org/drawingml/2006/main" name="dsp">
  <a:themeElements>
    <a:clrScheme name="ユーザー定義 5">
      <a:dk1>
        <a:sysClr val="windowText" lastClr="000000"/>
      </a:dk1>
      <a:lt1>
        <a:sysClr val="window" lastClr="FFFFFF"/>
      </a:lt1>
      <a:dk2>
        <a:srgbClr val="5B6973"/>
      </a:dk2>
      <a:lt2>
        <a:srgbClr val="000000"/>
      </a:lt2>
      <a:accent1>
        <a:srgbClr val="5B6973"/>
      </a:accent1>
      <a:accent2>
        <a:srgbClr val="002060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ochilab_ofdm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chilab_ofd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u Slide Bai Giang" id="{6D1FE97C-0DC9-49F0-BCBD-0231858D21AC}" vid="{6CE6C4B3-F117-464C-B978-3242D7D8DC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Lecture_Format_2017</Template>
  <TotalTime>4619</TotalTime>
  <Words>815</Words>
  <Application>Microsoft Office PowerPoint</Application>
  <PresentationFormat>On-screen Show (4:3)</PresentationFormat>
  <Paragraphs>122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Tahoma</vt:lpstr>
      <vt:lpstr>Times New Roman</vt:lpstr>
      <vt:lpstr>Wingdings</vt:lpstr>
      <vt:lpstr>dsp</vt:lpstr>
      <vt:lpstr>FPGA Implementation of SHA3-256 Hash Core</vt:lpstr>
      <vt:lpstr>1. Giới thiệu</vt:lpstr>
      <vt:lpstr>2. Sponge construction trong SHA3-256</vt:lpstr>
      <vt:lpstr>3. Datapath tối ưu của lõi Keccak</vt:lpstr>
      <vt:lpstr>4. Padding &amp; FIFO</vt:lpstr>
      <vt:lpstr>4. Padding &amp; FIFO</vt:lpstr>
      <vt:lpstr>5. Máy trạng thái FSM</vt:lpstr>
      <vt:lpstr>6. Kết quả mô phỏng và so sánh</vt:lpstr>
      <vt:lpstr>6. Kết quả mô phỏng và so sánh</vt:lpstr>
      <vt:lpstr>6. Kết quả mô phỏng và so sánh</vt:lpstr>
      <vt:lpstr>6. Kết quả mô phỏng và so sánh</vt:lpstr>
      <vt:lpstr>6. Kết quả mô phỏng và so sánh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Applications</dc:title>
  <dc:creator>quado</dc:creator>
  <cp:lastModifiedBy>Lê Văn Lợi</cp:lastModifiedBy>
  <cp:revision>586</cp:revision>
  <dcterms:created xsi:type="dcterms:W3CDTF">2013-02-24T12:47:21Z</dcterms:created>
  <dcterms:modified xsi:type="dcterms:W3CDTF">2026-05-10T10:14:16Z</dcterms:modified>
</cp:coreProperties>
</file>